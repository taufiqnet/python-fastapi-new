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PROERP ENTERPRISE SUITE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  <a:latin typeface="Segoe UI"/>
              </a:defRPr>
            </a:pPr>
            <a:r>
              <a:t>Next-Generation HR &amp; Payroll Platform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Automated, Fully Compliant, Cloud-Native Human Resource Management for Bangladesh &amp; Global Enterprises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100% BLA 2006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Statutory Labor Law Compliant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75488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1-Click Payroll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Automated Attendance &amp; Tax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75488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BEFTN &amp; MFS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Direct Corporate Bank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ProERP SaaS Platform  •  Enterprise HR &amp; Payroll Client Presentation  •  Slide 1 of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Transforming Modern Workforce Operations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Bridging the critical gap between manual spreadsheet chaos and statutory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B45309"/>
                </a:solidFill>
                <a:latin typeface="Segoe UI"/>
              </a:defRPr>
            </a:pPr>
            <a:r>
              <a:t>Current Industry Pain Points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Manual Payroll Processing: </a:t>
            </a:r>
            <a:r>
              <a:rPr sz="1100">
                <a:solidFill>
                  <a:srgbClr val="64748B"/>
                </a:solidFill>
                <a:latin typeface="Segoe UI"/>
              </a:rPr>
              <a:t>HR &amp; Accounts waste 5 to 7 working days each month wrestling with Excel formulas, prone to human calculation leaks.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Biometric &amp; Roster Mismatch: </a:t>
            </a:r>
            <a:r>
              <a:rPr sz="1100">
                <a:solidFill>
                  <a:srgbClr val="64748B"/>
                </a:solidFill>
                <a:latin typeface="Segoe UI"/>
              </a:rPr>
              <a:t>Physical fingerprint logs fail to reconcile with late-in grace periods, shifting day/night rosters, and overtime.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Compliance Risks (BLA 2006): </a:t>
            </a:r>
            <a:r>
              <a:rPr sz="1100">
                <a:solidFill>
                  <a:srgbClr val="64748B"/>
                </a:solidFill>
                <a:latin typeface="Segoe UI"/>
              </a:rPr>
              <a:t>Statutory errors in Casual/Sick/Maternity leave rules, leave carry-forward, and encashment lead to labor court fines.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Tax &amp; Bank Bottlenecks: </a:t>
            </a:r>
            <a:r>
              <a:rPr sz="1100">
                <a:solidFill>
                  <a:srgbClr val="64748B"/>
                </a:solidFill>
                <a:latin typeface="Segoe UI"/>
              </a:rPr>
              <a:t>Complex income tax withholding (ITA 2023) and manual writing of disbursement checks create security and delay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47857"/>
                </a:solidFill>
                <a:latin typeface="Segoe UI"/>
              </a:defRPr>
            </a:pPr>
            <a:r>
              <a:t>The ProERP Advantage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Unified Single Source of Truth: </a:t>
            </a:r>
            <a:r>
              <a:rPr sz="1100">
                <a:solidFill>
                  <a:srgbClr val="64748B"/>
                </a:solidFill>
                <a:latin typeface="Segoe UI"/>
              </a:rPr>
              <a:t>Attendance, leave, loans, salary adjustments, and taxes flow directly into the automated calculation pipeline.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Full Bangladesh Statutory Engine: </a:t>
            </a:r>
            <a:r>
              <a:rPr sz="1100">
                <a:solidFill>
                  <a:srgbClr val="64748B"/>
                </a:solidFill>
                <a:latin typeface="Segoe UI"/>
              </a:rPr>
              <a:t>Built-in statutory algorithms for BLA 2006 (leaves, encashment, gratuity) and NBR progressive tax slabs (ITA 2023).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1-Click Corporate Banking: </a:t>
            </a:r>
            <a:r>
              <a:rPr sz="1100">
                <a:solidFill>
                  <a:srgbClr val="64748B"/>
                </a:solidFill>
                <a:latin typeface="Segoe UI"/>
              </a:rPr>
              <a:t>Automated BEFTN Excel generation pre-filled with 9-digit routing codes, plus corporate bKash, Nagad &amp; Rocket files.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Employee Self-Service (ESS): </a:t>
            </a:r>
            <a:r>
              <a:rPr sz="1100">
                <a:solidFill>
                  <a:srgbClr val="64748B"/>
                </a:solidFill>
                <a:latin typeface="Segoe UI"/>
              </a:rPr>
              <a:t>Encrypted digital payslips, live attendance calendars, instant leave applications, and mobile transparency.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MODULAR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Complete HR &amp; Payroll Functional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An interconnected suite of 18 submodules covering every stage of the employee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Core HR &amp; Org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Branches, Depts, Designations, Grades &amp; 360° 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9202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Talent Acquisition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Job Requisitions, Candidate Tracking &amp; Digital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Digital Letters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Offer, Appointment (Form 6), Salary &amp; NOC Certificates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9202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Time &amp; Biometrics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Device Sync, Geo-fencing, Grace Rules &amp; Overtime Calculation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9202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Roster Management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Day/Evening/Night Shift Scheduling &amp; Off-Day Matrices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9202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Statutory Leave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BLA 2006 Quotas, Multi-Tier Approvals &amp; Encashment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Payroll Engine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Draft to Paid Pipeline, Hold/Release &amp; Bulk PDF Payslips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2918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Taxation (ITA 2023)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Progressive Slabs, Exemptions &amp; Withholding Certificates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918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Disbursement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BEFTN Bank Advice (60+ BD Banks) &amp; MFS Bulk Payouts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32918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Loans &amp; Advances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Multi-Month EMI Setup &amp; Hands-off Salary Auto-Deductions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2918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Bonus &amp; Increments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Festival (Eid/Puja) Runs, Performance Bonuses &amp; Arrears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2918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Provident Fund &amp; Gratuity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Dual 8.33% RPF Contribution &amp; 5-Year Gratuity Entitlement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Appraisals &amp; KPIs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Goal Setting, 360° Feedback &amp; Performance Matrices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6634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Disciplinary &amp; Inquiry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BLA Sec 23/24 Show-Cause Notices &amp; Formal Hearings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6634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Travel &amp; Claims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Per-diem Policies, Multi-Level Approvals &amp; Reimbursements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59" y="46634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Separation &amp; Settlement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Resignation, Clearances, Gratuity &amp; Release Certificate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6634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Self-Service Portal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Mobile ESS: Payslips, Attendance, Leaves &amp; Request Vault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466344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Security &amp; RBAC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Multi-Tenant Data Isolation, Audit Trail &amp; Export 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ORGANIZATION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Enterprise Structure &amp; Employee 360° Master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Multi-branch organizational modeling with granular salary grade and payscale matrices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1D4ED8"/>
                </a:solidFill>
                <a:latin typeface="Segoe UI"/>
              </a:defRPr>
            </a:pPr>
            <a:r>
              <a:t>Multi-Tier Organization Hierarchy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Multi-Branch Scalability: </a:t>
            </a:r>
            <a:r>
              <a:rPr sz="1100">
                <a:solidFill>
                  <a:srgbClr val="64748B"/>
                </a:solidFill>
              </a:rPr>
              <a:t>Centralize Head Office and remote factory/warehouse branches under single corporate tenancy with isolated cost centers.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Department &amp; Designation Mapping: </a:t>
            </a:r>
            <a:r>
              <a:rPr sz="1100">
                <a:solidFill>
                  <a:srgbClr val="64748B"/>
                </a:solidFill>
              </a:rPr>
              <a:t>Strict departmental boundaries with reporting lines and supervisor hierarchies for approval routing.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Salary Grade &amp; Payscale Matrix: </a:t>
            </a:r>
            <a:r>
              <a:rPr sz="1100">
                <a:solidFill>
                  <a:srgbClr val="64748B"/>
                </a:solidFill>
              </a:rPr>
              <a:t>Configure structured salary grades (e.g. Grade 1 to 7) with granular step matrices (Step 1 Basic 25k, Step 2 Basic 27.5k).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Automated Step Progression: </a:t>
            </a:r>
            <a:r>
              <a:rPr sz="1100">
                <a:solidFill>
                  <a:srgbClr val="64748B"/>
                </a:solidFill>
              </a:rPr>
              <a:t>Seamlessly step employees up salary scales during annual appraisals without manual formula rework.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47857"/>
                </a:solidFill>
                <a:latin typeface="Segoe UI"/>
              </a:defRPr>
            </a:pPr>
            <a:r>
              <a:t>Comprehensive Digital Employee Record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Statutory Identification: </a:t>
            </a:r>
            <a:r>
              <a:rPr sz="1100">
                <a:solidFill>
                  <a:srgbClr val="64748B"/>
                </a:solidFill>
              </a:rPr>
              <a:t>Stores verified 10/17-digit National ID (NID), Tax Identification Number (TIN), e-TIN certificates, and passport details.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Banking &amp; MFS Details: </a:t>
            </a:r>
            <a:r>
              <a:rPr sz="1100">
                <a:solidFill>
                  <a:srgbClr val="64748B"/>
                </a:solidFill>
              </a:rPr>
              <a:t>Captures corporate bank account numbers, 9-digit routing codes, and bKash/Nagad wallet numbers for disbursement.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Medical &amp; Emergency Contacts: </a:t>
            </a:r>
            <a:r>
              <a:rPr sz="1100">
                <a:solidFill>
                  <a:srgbClr val="64748B"/>
                </a:solidFill>
              </a:rPr>
              <a:t>Blood group, emergency nominee declarations, kin contacts, and medical fitness certificates.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0F172A"/>
                </a:solidFill>
              </a:rPr>
              <a:t>• Encrypted Document Vault: </a:t>
            </a:r>
            <a:r>
              <a:rPr sz="1100">
                <a:solidFill>
                  <a:srgbClr val="64748B"/>
                </a:solidFill>
              </a:rPr>
              <a:t>Centralized digital storage for academic certificates, resume, signed contracts, and background verification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TALENT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Recruitment &amp; Statutory Document Generation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From job requisition to BLA 2006 Form 6 compliant appointment letters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Job Requisition &amp; Tracking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Manage headcount budgets, opening approvals, candidate pipelines, and interview scoring matrices in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BLA 2006 Form 6 Letters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Generate legally binding statutory Appointment Letters with mandatory terms prescribed under Bangladesh Labour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Dynamic Offer Letters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Generate professional offer packages with merged compensation breakdowns, probation terms, and digital acceptance.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B45309"/>
                </a:solidFill>
                <a:latin typeface="Segoe UI"/>
              </a:defRPr>
            </a:pPr>
            <a:r>
              <a:t>Certificates on Demand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1-Click generation of verified Salary Certificates for bank loans, Service/Experience Letters, and travel NOCs.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5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TIME &amp;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Biometrics, Intelligent Grace Rules &amp; Shift Rosters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Eliminating time theft, attendance disputes, and manual reconciliation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1D4ED8"/>
                </a:solidFill>
                <a:latin typeface="Segoe UI"/>
              </a:defRPr>
            </a:pPr>
            <a:r>
              <a:t>Hardware Integration &amp; Intelligent Rules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Direct Biometric Integration: </a:t>
            </a:r>
            <a:r>
              <a:rPr sz="1100">
                <a:solidFill>
                  <a:srgbClr val="64748B"/>
                </a:solidFill>
              </a:rPr>
              <a:t>Seamless API sync with ZKTeco, Realtime, and major biometric fingerprint/facial recognition terminals.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Geo-Fenced Mobile Check-ins: </a:t>
            </a:r>
            <a:r>
              <a:rPr sz="1100">
                <a:solidFill>
                  <a:srgbClr val="64748B"/>
                </a:solidFill>
              </a:rPr>
              <a:t>GPS-bound and IP-restricted check-ins for field agents, remote employees, and branch offices.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Configurable Grace Periods: </a:t>
            </a:r>
            <a:r>
              <a:rPr sz="1100">
                <a:solidFill>
                  <a:srgbClr val="64748B"/>
                </a:solidFill>
              </a:rPr>
              <a:t>Define late-in grace periods (e.g. 15 minutes) and automated late deduction rules (e.g. 3 consecutive lates = 1 day pay deduct).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Automated Overtime Tracking: </a:t>
            </a:r>
            <a:r>
              <a:rPr sz="1100">
                <a:solidFill>
                  <a:srgbClr val="64748B"/>
                </a:solidFill>
              </a:rPr>
              <a:t>Automatic identification of early arrivals, late departures, and weekend/holiday overtime with double-rate calculation.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47857"/>
                </a:solidFill>
                <a:latin typeface="Segoe UI"/>
              </a:defRPr>
            </a:pPr>
            <a:r>
              <a:t>Enterprise Multi-Shift Rostering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Multi-Shift Matrix: </a:t>
            </a:r>
            <a:r>
              <a:rPr sz="1100">
                <a:solidFill>
                  <a:srgbClr val="64748B"/>
                </a:solidFill>
              </a:rPr>
              <a:t>Configure standard morning, evening, and overnight rotating shifts with designated break intervals.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Shift Rotation Cycles: </a:t>
            </a:r>
            <a:r>
              <a:rPr sz="1100">
                <a:solidFill>
                  <a:srgbClr val="64748B"/>
                </a:solidFill>
              </a:rPr>
              <a:t>Automated weekly/monthly shift rotations with visual department roster scheduling calendars.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Night Shift Allowance: </a:t>
            </a:r>
            <a:r>
              <a:rPr sz="1100">
                <a:solidFill>
                  <a:srgbClr val="64748B"/>
                </a:solidFill>
              </a:rPr>
              <a:t>Automatic computation of statutory night allowances for manufacturing and customer support staff.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Flexible Off-Day Swapping: </a:t>
            </a:r>
            <a:r>
              <a:rPr sz="1100">
                <a:solidFill>
                  <a:srgbClr val="64748B"/>
                </a:solidFill>
              </a:rPr>
              <a:t>Manager-approved weekend and weekly off-day duty exchanges without breaking attendance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6 of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STATUTORY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BLA 2006 Compliant Leave &amp; Encashment Engine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Enforcing Bangladesh statutory quotas, carryover rules, and financial encashment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57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Casual Leave (CL)</a:t>
            </a:r>
          </a:p>
          <a:p>
            <a:pPr>
              <a:spcBef>
                <a:spcPts val="600"/>
              </a:spcBef>
              <a:defRPr sz="1600" b="1">
                <a:solidFill>
                  <a:srgbClr val="047857"/>
                </a:solidFill>
                <a:latin typeface="Segoe UI"/>
              </a:defRPr>
            </a:pPr>
            <a:r>
              <a:t>10 Days</a:t>
            </a:r>
          </a:p>
          <a:p>
            <a:pPr>
              <a:defRPr sz="1000" b="1">
                <a:solidFill>
                  <a:srgbClr val="B45309"/>
                </a:solidFill>
                <a:latin typeface="Segoe UI"/>
              </a:defRPr>
            </a:pPr>
            <a:r>
              <a:t>Section 115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Full-pay non-cumulative leave for urgent personal affairs. Cannot be combined with sick leave.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920240"/>
            <a:ext cx="2057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Sick Leave (SL)</a:t>
            </a:r>
          </a:p>
          <a:p>
            <a:pPr>
              <a:spcBef>
                <a:spcPts val="600"/>
              </a:spcBef>
              <a:defRPr sz="1600" b="1">
                <a:solidFill>
                  <a:srgbClr val="047857"/>
                </a:solidFill>
                <a:latin typeface="Segoe UI"/>
              </a:defRPr>
            </a:pPr>
            <a:r>
              <a:t>14 Days</a:t>
            </a:r>
          </a:p>
          <a:p>
            <a:pPr>
              <a:defRPr sz="1000" b="1">
                <a:solidFill>
                  <a:srgbClr val="B45309"/>
                </a:solidFill>
                <a:latin typeface="Segoe UI"/>
              </a:defRPr>
            </a:pPr>
            <a:r>
              <a:t>Section 116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Full-pay medical leave requiring registered practitioner certificate for absences beyond 3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920240"/>
            <a:ext cx="2057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Earned / Annual (EL)</a:t>
            </a:r>
          </a:p>
          <a:p>
            <a:pPr>
              <a:spcBef>
                <a:spcPts val="600"/>
              </a:spcBef>
              <a:defRPr sz="1600" b="1">
                <a:solidFill>
                  <a:srgbClr val="047857"/>
                </a:solidFill>
                <a:latin typeface="Segoe UI"/>
              </a:defRPr>
            </a:pPr>
            <a:r>
              <a:t>1 per 18 Days</a:t>
            </a:r>
          </a:p>
          <a:p>
            <a:pPr>
              <a:defRPr sz="1000" b="1">
                <a:solidFill>
                  <a:srgbClr val="B45309"/>
                </a:solidFill>
                <a:latin typeface="Segoe UI"/>
              </a:defRPr>
            </a:pPr>
            <a:r>
              <a:t>Section 117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Accrued on actual working days. Eligible for annual carry-forward and cash encashment.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920240"/>
            <a:ext cx="2057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Maternity Leave</a:t>
            </a:r>
          </a:p>
          <a:p>
            <a:pPr>
              <a:spcBef>
                <a:spcPts val="600"/>
              </a:spcBef>
              <a:defRPr sz="1600" b="1">
                <a:solidFill>
                  <a:srgbClr val="047857"/>
                </a:solidFill>
                <a:latin typeface="Segoe UI"/>
              </a:defRPr>
            </a:pPr>
            <a:r>
              <a:t>16 Weeks (112 Days)</a:t>
            </a:r>
          </a:p>
          <a:p>
            <a:pPr>
              <a:defRPr sz="1000" b="1">
                <a:solidFill>
                  <a:srgbClr val="B45309"/>
                </a:solidFill>
                <a:latin typeface="Segoe UI"/>
              </a:defRPr>
            </a:pPr>
            <a:r>
              <a:t>Section 46-50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8 weeks pre-natal and 8 weeks post-natal with statutory daily average wage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920240"/>
            <a:ext cx="2057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Festival Holidays</a:t>
            </a:r>
          </a:p>
          <a:p>
            <a:pPr>
              <a:spcBef>
                <a:spcPts val="600"/>
              </a:spcBef>
              <a:defRPr sz="1600" b="1">
                <a:solidFill>
                  <a:srgbClr val="047857"/>
                </a:solidFill>
                <a:latin typeface="Segoe UI"/>
              </a:defRPr>
            </a:pPr>
            <a:r>
              <a:t>11 Days</a:t>
            </a:r>
          </a:p>
          <a:p>
            <a:pPr>
              <a:defRPr sz="1000" b="1">
                <a:solidFill>
                  <a:srgbClr val="B45309"/>
                </a:solidFill>
                <a:latin typeface="Segoe UI"/>
              </a:defRPr>
            </a:pPr>
            <a:r>
              <a:t>Section 118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Mandatory paid national and religious holidays declared by the government.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7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PAYROLL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End-to-End Automated Payroll Processing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Guaranteed data integrity with a 4-stage protected payroll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1. Create Period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Define payroll cycle (e.g. Oct 2026), working day boundary, and disbursement target 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047857"/>
                </a:solidFill>
                <a:latin typeface="Segoe UI"/>
              </a:defRPr>
            </a:pPr>
            <a:r>
              <a:t>2. Auto-Compute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Ingest live biometric attendance, leave deductions, overtime hours, active loan EMIs &amp; tax slabs.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B45309"/>
                </a:solidFill>
                <a:latin typeface="Segoe UI"/>
              </a:defRPr>
            </a:pPr>
            <a:r>
              <a:t>3. Audit &amp; Adjust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Review individual payslips, apply retroactive arrears or bonus adjustments, and hold salaries with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202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4. Lock &amp; Disburse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Lock period to freeze figures, export corporate BEFTN/MFS advice, and release encrypted PDF payslips.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Built-in Audit &amp; Safeguard Controls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✔  Salary Hold &amp; Release: Temporarily withhold an employee's salary during pending clearance without stopping batch payroll.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✔  Immutable Lock: Once marked 'Locked', calculations cannot be altered, ensuring full audit readiness for internal and external auditors.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✔  Zero Double-Disbursement: System prevents duplicate payslip generation for the same employee within the same payroll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8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COMPENSATION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Earnings, Deductions &amp; Net Salary Computation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Transparent, granular breakdown of every monetary component per payslip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1D4ED8"/>
                </a:solidFill>
                <a:latin typeface="Segoe UI"/>
              </a:defRPr>
            </a:pPr>
            <a:r>
              <a:t>Earnings Components (Gross Salary)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Basic Salary: </a:t>
            </a:r>
            <a:r>
              <a:rPr sz="1000">
                <a:solidFill>
                  <a:srgbClr val="64748B"/>
                </a:solidFill>
              </a:rPr>
              <a:t>50% to 60% of Gross as per industry standard and minimum wage gazette.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House Rent Allowance: </a:t>
            </a:r>
            <a:r>
              <a:rPr sz="1000">
                <a:solidFill>
                  <a:srgbClr val="64748B"/>
                </a:solidFill>
              </a:rPr>
              <a:t>25% to 50% of Basic as per Bangladesh corporate compensation rules.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Medical &amp; Transport: </a:t>
            </a:r>
            <a:r>
              <a:rPr sz="1000">
                <a:solidFill>
                  <a:srgbClr val="64748B"/>
                </a:solidFill>
              </a:rPr>
              <a:t>Statutory tax-free threshold limits applied per Income Tax regulations.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Food &amp; Special Allowance: </a:t>
            </a:r>
            <a:r>
              <a:rPr sz="1000">
                <a:solidFill>
                  <a:srgbClr val="64748B"/>
                </a:solidFill>
              </a:rPr>
              <a:t>Customizable recurring allowances mapped to employee grades.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Statutory Overtime: </a:t>
            </a:r>
            <a:r>
              <a:rPr sz="1000">
                <a:solidFill>
                  <a:srgbClr val="64748B"/>
                </a:solidFill>
              </a:rPr>
              <a:t>Calculated at double basic rate: (Basic ÷ 208 hrs) × 2 × OT Hours.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Festival &amp; Performance Bonuses: </a:t>
            </a:r>
            <a:r>
              <a:rPr sz="1000">
                <a:solidFill>
                  <a:srgbClr val="64748B"/>
                </a:solidFill>
              </a:rPr>
              <a:t>Eid-ul-Fitr, Eid-ul-Adha, Puja, and annual KPI bonus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B45309"/>
                </a:solidFill>
                <a:latin typeface="Segoe UI"/>
              </a:defRPr>
            </a:pPr>
            <a:r>
              <a:t>Deductions &amp; Net Disbursable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Withholding Tax (AIT): </a:t>
            </a:r>
            <a:r>
              <a:rPr sz="1000">
                <a:solidFill>
                  <a:srgbClr val="64748B"/>
                </a:solidFill>
              </a:rPr>
              <a:t>Automated progressive income tax deduction based on annual taxable earnings.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Provident Fund (RPF): </a:t>
            </a:r>
            <a:r>
              <a:rPr sz="1000">
                <a:solidFill>
                  <a:srgbClr val="64748B"/>
                </a:solidFill>
              </a:rPr>
              <a:t>8.33% employee deduction matched with 8.33% employer contribution.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Unpaid Leave (LWP): </a:t>
            </a:r>
            <a:r>
              <a:rPr sz="1000">
                <a:solidFill>
                  <a:srgbClr val="64748B"/>
                </a:solidFill>
              </a:rPr>
              <a:t>Calculated on exact calendar workdays: (Basic ÷ Total Working Days) × LWP.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Loan &amp; Advance EMIs: </a:t>
            </a:r>
            <a:r>
              <a:rPr sz="1000">
                <a:solidFill>
                  <a:srgbClr val="64748B"/>
                </a:solidFill>
              </a:rPr>
              <a:t>Direct deduction of active loan monthly installments.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Damage &amp; Recovery: </a:t>
            </a:r>
            <a:r>
              <a:rPr sz="1000">
                <a:solidFill>
                  <a:srgbClr val="64748B"/>
                </a:solidFill>
              </a:rPr>
              <a:t>Authorized asset damage or disciplinary penalty deductions.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F172A"/>
                </a:solidFill>
              </a:rPr>
              <a:t>• Net Disbursable Salary: </a:t>
            </a:r>
            <a:r>
              <a:rPr sz="1000">
                <a:solidFill>
                  <a:srgbClr val="64748B"/>
                </a:solidFill>
              </a:rPr>
              <a:t>Gross Salary − Total Deductions, automatically verified before payout.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9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TAX &amp;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Statutory Income Tax (ITA 2023) &amp; Provident Fund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Seamless alignment with National Board of Revenue (NBR) individual income tax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Income Tax Act 2023 Progressive Slabs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First 3,50,000 BDT: </a:t>
            </a:r>
            <a:r>
              <a:rPr sz="1000">
                <a:solidFill>
                  <a:srgbClr val="64748B"/>
                </a:solidFill>
              </a:rPr>
              <a:t>0% Tax (General Male Threshold)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First 4,00,000 BDT: </a:t>
            </a:r>
            <a:r>
              <a:rPr sz="1000">
                <a:solidFill>
                  <a:srgbClr val="64748B"/>
                </a:solidFill>
              </a:rPr>
              <a:t>0% Tax (Female &amp; Senior Citizens 65+)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First 4,75,000 BDT: </a:t>
            </a:r>
            <a:r>
              <a:rPr sz="1000">
                <a:solidFill>
                  <a:srgbClr val="64748B"/>
                </a:solidFill>
              </a:rPr>
              <a:t>0% Tax (Third Gender &amp; Physically Challenged)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Next 1,00,000 BDT: </a:t>
            </a:r>
            <a:r>
              <a:rPr sz="1000">
                <a:solidFill>
                  <a:srgbClr val="64748B"/>
                </a:solidFill>
              </a:rPr>
              <a:t>5% Tax Rate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Next 3,00,000 BDT: </a:t>
            </a:r>
            <a:r>
              <a:rPr sz="1000">
                <a:solidFill>
                  <a:srgbClr val="64748B"/>
                </a:solidFill>
              </a:rPr>
              <a:t>10% Tax Rate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Next 4,00,000 BDT: </a:t>
            </a:r>
            <a:r>
              <a:rPr sz="1000">
                <a:solidFill>
                  <a:srgbClr val="64748B"/>
                </a:solidFill>
              </a:rPr>
              <a:t>15% Tax Rate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Next 5,00,000 BDT: </a:t>
            </a:r>
            <a:r>
              <a:rPr sz="1000">
                <a:solidFill>
                  <a:srgbClr val="64748B"/>
                </a:solidFill>
              </a:rPr>
              <a:t>20% Tax Rate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Remaining Balance: </a:t>
            </a:r>
            <a:r>
              <a:rPr sz="1000">
                <a:solidFill>
                  <a:srgbClr val="64748B"/>
                </a:solidFill>
              </a:rPr>
              <a:t>25% Maximum Tax Rate</a:t>
            </a:r>
          </a:p>
          <a:p>
            <a:pPr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• Dhaka CC Minimum Tax: </a:t>
            </a:r>
            <a:r>
              <a:rPr sz="1000">
                <a:solidFill>
                  <a:srgbClr val="64748B"/>
                </a:solidFill>
              </a:rPr>
              <a:t>5,000 BDT statutory annual minimum tax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Provident Fund &amp; Gratuity Governance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Dual Matching Contribution: </a:t>
            </a:r>
            <a:r>
              <a:rPr sz="1000">
                <a:solidFill>
                  <a:srgbClr val="64748B"/>
                </a:solidFill>
              </a:rPr>
              <a:t>Recognized Provident Fund (RPF) rules with equal 8.33% employee deduction and 8.33% employer corporate matching.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Member Ledger Tracking: </a:t>
            </a:r>
            <a:r>
              <a:rPr sz="1000">
                <a:solidFill>
                  <a:srgbClr val="64748B"/>
                </a:solidFill>
              </a:rPr>
              <a:t>Live employee PF balance showing cumulative contributions, profit/interest allocations, and loan advances.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Gratuity Eligibility (BLA Sec 27): </a:t>
            </a:r>
            <a:r>
              <a:rPr sz="1000">
                <a:solidFill>
                  <a:srgbClr val="64748B"/>
                </a:solidFill>
              </a:rPr>
              <a:t>Qualifying tenure of 5 continuous years. Generates 30 days basic pay per completed year of service.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Automated Tax Certificates: </a:t>
            </a:r>
            <a:r>
              <a:rPr sz="1000">
                <a:solidFill>
                  <a:srgbClr val="64748B"/>
                </a:solidFill>
              </a:rPr>
              <a:t>Annual NBR Salary Certificate with tax deducted at source, ready for individual income tax return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10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SALARY DISBURSEMENT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Direct Corporate Banking &amp; MFS Advice Files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Zero check-writing and elimination of cash handling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1D4ED8"/>
                </a:solidFill>
                <a:latin typeface="Segoe UI"/>
              </a:defRPr>
            </a:pPr>
            <a:r>
              <a:t>BEFTN / EFT Corporate Bank Advice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Universal Compatibility: </a:t>
            </a:r>
            <a:r>
              <a:rPr sz="1100">
                <a:solidFill>
                  <a:srgbClr val="64748B"/>
                </a:solidFill>
              </a:rPr>
              <a:t>Pre-formatted Excel advice compatible with all 60+ scheduled commercial banks in Bangladesh.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9-Digit Routing Codes: </a:t>
            </a:r>
            <a:r>
              <a:rPr sz="1100">
                <a:solidFill>
                  <a:srgbClr val="64748B"/>
                </a:solidFill>
              </a:rPr>
              <a:t>Automatically verifies and includes branch-specific 9-digit routing numbers for BEFTN and RTGS processing.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Direct Portal Upload: </a:t>
            </a:r>
            <a:r>
              <a:rPr sz="1100">
                <a:solidFill>
                  <a:srgbClr val="64748B"/>
                </a:solidFill>
              </a:rPr>
              <a:t>Ready for instant upload to City Bank CityLive, BRAC Bank CorpNet, Dutch-Bangla Corporate, Eastern Bank EBL Skybanking, etc.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Audit Reconciliation: </a:t>
            </a:r>
            <a:r>
              <a:rPr sz="1100">
                <a:solidFill>
                  <a:srgbClr val="64748B"/>
                </a:solidFill>
              </a:rPr>
              <a:t>Matched with bank debit advice to confirm salary credit and maintain a clean audit trail.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47857"/>
                </a:solidFill>
                <a:latin typeface="Segoe UI"/>
              </a:defRPr>
            </a:pPr>
            <a:r>
              <a:t>Mobile Financial Services (MFS) Payouts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bKash Corporate Payroll: </a:t>
            </a:r>
            <a:r>
              <a:rPr sz="1100">
                <a:solidFill>
                  <a:srgbClr val="64748B"/>
                </a:solidFill>
              </a:rPr>
              <a:t>One-click export tailored for the bKash Corporate B2C bulk disbursement portal.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Nagad Corporate Disbursement: </a:t>
            </a:r>
            <a:r>
              <a:rPr sz="1100">
                <a:solidFill>
                  <a:srgbClr val="64748B"/>
                </a:solidFill>
              </a:rPr>
              <a:t>Pre-formatted CSV for instant Nagad employee wallet transfers.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Rocket (DBBL MFS): </a:t>
            </a:r>
            <a:r>
              <a:rPr sz="1100">
                <a:solidFill>
                  <a:srgbClr val="64748B"/>
                </a:solidFill>
              </a:rPr>
              <a:t>Full support for Rocket 12-digit account numbers and batch payouts.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Factory / Field Staff Friendly: </a:t>
            </a:r>
            <a:r>
              <a:rPr sz="1100">
                <a:solidFill>
                  <a:srgbClr val="64748B"/>
                </a:solidFill>
              </a:rPr>
              <a:t>Ideal for retail staff, manufacturing shifts, and unbanked employees without physical bank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11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EMPLOYEE WELFARE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Loans, Advances &amp; Hands-Off EMI Recovery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Managing employee financial assistance with automated monthly payroll deductions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1. Application Workflow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Employees apply via ESS specifying loan purpose, requested principal, and preferred tenure in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2. Approval &amp; Schedule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Finance/HR approves terms and system automatically creates a month-by-month EMI repayment schedule.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B45309"/>
                </a:solidFill>
                <a:latin typeface="Segoe UI"/>
              </a:defRPr>
            </a:pPr>
            <a:r>
              <a:t>3. Automated Payroll EMI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When running monthly payroll, the engine automatically checks active schedules and deducts the exact installment.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6D28D9"/>
                </a:solidFill>
                <a:latin typeface="Segoe UI"/>
              </a:defRPr>
            </a:pPr>
            <a:r>
              <a:t>4. Pause, Waive or Prepay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Flexible management controls to pause installments during hardship, record prepayments, or waive balances.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12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PEOPLE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Lifecycle Milestones &amp; Disciplinary Proceedings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Managing promotions, salary increments, and BLA Section 23/24 legal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1D4ED8"/>
                </a:solidFill>
                <a:latin typeface="Segoe UI"/>
              </a:defRPr>
            </a:pPr>
            <a:r>
              <a:t>Lifecycle Events &amp; Performance Appraisals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Probation to Confirmation: </a:t>
            </a:r>
            <a:r>
              <a:rPr sz="1100">
                <a:solidFill>
                  <a:srgbClr val="64748B"/>
                </a:solidFill>
              </a:rPr>
              <a:t>Automated evaluation reminders, supervisor review forms, and instant confirmation letter issuance.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Promotions &amp; Transfers: </a:t>
            </a:r>
            <a:r>
              <a:rPr sz="1100">
                <a:solidFill>
                  <a:srgbClr val="64748B"/>
                </a:solidFill>
              </a:rPr>
              <a:t>Departmental, branch, and designation transfers with complete salary revision tracking.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Increments &amp; Retroactive Arrears: </a:t>
            </a:r>
            <a:r>
              <a:rPr sz="1100">
                <a:solidFill>
                  <a:srgbClr val="64748B"/>
                </a:solidFill>
              </a:rPr>
              <a:t>Apply annual percentage or step increments with automated calculation of retrospective arrears.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Performance Management (KPI): </a:t>
            </a:r>
            <a:r>
              <a:rPr sz="1100">
                <a:solidFill>
                  <a:srgbClr val="64748B"/>
                </a:solidFill>
              </a:rPr>
              <a:t>Goal setting, self-assessment ratings, manager reviews, and 360° feedback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B45309"/>
                </a:solidFill>
                <a:latin typeface="Segoe UI"/>
              </a:defRPr>
            </a:pPr>
            <a:r>
              <a:t>Statutory Disciplinary Actions (BLA Sec 23/24)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Formal Show-Cause Notice: </a:t>
            </a:r>
            <a:r>
              <a:rPr sz="1100">
                <a:solidFill>
                  <a:srgbClr val="64748B"/>
                </a:solidFill>
              </a:rPr>
              <a:t>Issue official notice detailing misconduct charges with mandatory statutory response deadlines.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Inquiry Committee Proceedings: </a:t>
            </a:r>
            <a:r>
              <a:rPr sz="1100">
                <a:solidFill>
                  <a:srgbClr val="64748B"/>
                </a:solidFill>
              </a:rPr>
              <a:t>Record inquiry committee appointments, witness statements, hearing transcripts, and findings.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Warnings &amp; Suspensions: </a:t>
            </a:r>
            <a:r>
              <a:rPr sz="1100">
                <a:solidFill>
                  <a:srgbClr val="64748B"/>
                </a:solidFill>
              </a:rPr>
              <a:t>Log formal written warnings, suspension pending inquiry (with subsistence allowance), or dismissal.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Court-Proof Audit Trail: </a:t>
            </a:r>
            <a:r>
              <a:rPr sz="1100">
                <a:solidFill>
                  <a:srgbClr val="64748B"/>
                </a:solidFill>
              </a:rPr>
              <a:t>Maintain complete documentation to protect the organization against unfair dismissal claims in labor court.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13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EMPLOYEE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Employee Self-Service (ESS) &amp; Mobile Access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Empowering staff with 24/7 self-service and eliminating repetitive HR inquiries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Digital Payslips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Encrypted PDF payslip viewing &amp; download with full earnings, tax, and PF breakdowns.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Leave Management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Check real-time leave balances, submit leave applications, and track manager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2024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Attendance &amp; Overtime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View daily check-in/out logs, late flags, approved overtime hours, and shift roster.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B45309"/>
                </a:solidFill>
                <a:latin typeface="Segoe UI"/>
              </a:defRPr>
            </a:pPr>
            <a:r>
              <a:t>Loans &amp; Advances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Apply for financial assistance, check outstanding loan balances, and view EMI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023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6D28D9"/>
                </a:solidFill>
                <a:latin typeface="Segoe UI"/>
              </a:defRPr>
            </a:pPr>
            <a:r>
              <a:t>Travel &amp; Expenses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Submit expense claim bills, attach receipts via camera, and track reimbursements.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023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Company Notice Board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Receive official circulars, holiday announcements, and policy updates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14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EXIT &amp; OFFBOARDING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Separation Workflows &amp; Final Settlement Engine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Automated calculation of gratuity, leave encashment, and department clearances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1D4ED8"/>
                </a:solidFill>
                <a:latin typeface="Segoe UI"/>
              </a:defRPr>
            </a:pPr>
            <a:r>
              <a:t>Multi-Department Clearance Matrix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IT Department Clearance: </a:t>
            </a:r>
            <a:r>
              <a:rPr sz="1100">
                <a:solidFill>
                  <a:srgbClr val="64748B"/>
                </a:solidFill>
              </a:rPr>
              <a:t>Revoke email, VPN, ERP credentials; return assigned laptop, phone, and tokens.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Admin &amp; Security: </a:t>
            </a:r>
            <a:r>
              <a:rPr sz="1100">
                <a:solidFill>
                  <a:srgbClr val="64748B"/>
                </a:solidFill>
              </a:rPr>
              <a:t>Recover office access badges, company keys, parking permits, and uniform/safety gear.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Departmental Handover: </a:t>
            </a:r>
            <a:r>
              <a:rPr sz="1100">
                <a:solidFill>
                  <a:srgbClr val="64748B"/>
                </a:solidFill>
              </a:rPr>
              <a:t>Sign-off on active project file handovers, task transfer, and documentation.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Finance &amp; Accounts: </a:t>
            </a:r>
            <a:r>
              <a:rPr sz="1100">
                <a:solidFill>
                  <a:srgbClr val="64748B"/>
                </a:solidFill>
              </a:rPr>
              <a:t>Audit petty cash advances, credit cards, outstanding loans, and travel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47857"/>
                </a:solidFill>
                <a:latin typeface="Segoe UI"/>
              </a:defRPr>
            </a:pPr>
            <a:r>
              <a:t>Automated Final Settlement Formula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Unpaid Salary Balance: </a:t>
            </a:r>
            <a:r>
              <a:rPr sz="1000">
                <a:solidFill>
                  <a:srgbClr val="64748B"/>
                </a:solidFill>
              </a:rPr>
              <a:t>Pro-rated salary for active days served during the final exit month.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Earned Leave Encashment: </a:t>
            </a:r>
            <a:r>
              <a:rPr sz="1000">
                <a:solidFill>
                  <a:srgbClr val="64748B"/>
                </a:solidFill>
              </a:rPr>
              <a:t>Cash payment for unspent accrued annual leave: (Basic ÷ 30) × Unused EL.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Statutory Gratuity Entitlement: </a:t>
            </a:r>
            <a:r>
              <a:rPr sz="1000">
                <a:solidFill>
                  <a:srgbClr val="64748B"/>
                </a:solidFill>
              </a:rPr>
              <a:t>30 days basic pay per completed year of service (for 5+ years of continuous service).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Deduction of Loan Balances: </a:t>
            </a:r>
            <a:r>
              <a:rPr sz="1000">
                <a:solidFill>
                  <a:srgbClr val="64748B"/>
                </a:solidFill>
              </a:rPr>
              <a:t>Automatic recovery of remaining loan principal or notice period shortfall penalty.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Official Settlement Sheet &amp; Release: </a:t>
            </a:r>
            <a:r>
              <a:rPr sz="1000">
                <a:solidFill>
                  <a:srgbClr val="64748B"/>
                </a:solidFill>
              </a:rPr>
              <a:t>Generates signed Final Settlement Voucher and formal Experience &amp; Release Certificate.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15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ENTERPRISE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Multi-Tenancy Isolation, RBAC &amp; Audit Trails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Banking-grade data protection, confidentiality, and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Multi-Tenancy Isolation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Strict business_id database scoping guarantees complete data isolation between sister concerns and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Role-Based Access (RBAC)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Granular permissions for Super Admin, HR Manager, Payroll Officer, Dept Head, and Staff with least-privilege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B45309"/>
                </a:solidFill>
                <a:latin typeface="Segoe UI"/>
              </a:defRPr>
            </a:pPr>
            <a:r>
              <a:t>Immutable Audit Trail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Every salary revision, status change, and payment execution is logged with timestamp, user ID, and IP address.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6D28D9"/>
                </a:solidFill>
                <a:latin typeface="Segoe UI"/>
              </a:defRPr>
            </a:pPr>
            <a:r>
              <a:t>Data Protection &amp; Backups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Database encryption at rest and in transit (TLS 1.3), automated daily backups, and disaster recovery.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ProERP SaaS Platform  •  Enterprise HR &amp; Payroll Client Presentation  •  Slide 16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MEASURABLE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Tangible Return on Investment (ROI)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How ProERP delivers rapid payback and financial returns from Month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85%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Payroll Time Reduction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Cut payroll processing from 5 days to 30 minutes with 1-click batch calculation.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Statutory Compliance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Zero labor court fines, zero tax audit penalties under BLA 2006 and ITA 2023.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Zero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Calculation Leakage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Eliminate ghost overtime, improper leave deductions, and unrecovered loan defaults.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90%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Fewer HR Inquiries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Employees access digital payslips, balances, and certificates via self-service portal.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ProERP SaaS Platform  •  Enterprise HR &amp; Payroll Client Presentation  •  Slide 17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4-Week Rapid Deployment Roadmap &amp; Kickoff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 smooth, structured onboarding methodology with dedicated training and parallel run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Week 1: Setup &amp; Import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Configure organization hierarchy, branches, salary grades, and import historical employee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047857"/>
                </a:solidFill>
                <a:latin typeface="Segoe UI"/>
              </a:defRPr>
            </a:pPr>
            <a:r>
              <a:t>Week 2: Attendance &amp; Leave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Integrate biometric devices, map shift rosters, and configure BLA 2006 statutory leave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B45309"/>
                </a:solidFill>
                <a:latin typeface="Segoe UI"/>
              </a:defRPr>
            </a:pPr>
            <a:r>
              <a:t>Week 3: Parallel Payroll Run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Run parallel payroll alongside legacy spreadsheets to validate numbers to 100%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920240"/>
            <a:ext cx="25603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Week 4: Go-Live &amp; ESS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Live disbursement via BEFTN/MFS, employee mobile portal rollout, and HR team certification.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Ready to Modernize Your HR &amp; Payroll Operations?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Let's schedule a live interactive system walkthrough and launch your pilot onboarding. Contact our solutions team to begin.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ProERP SaaS Platform  •  Enterprise HR &amp; Payroll Client Presentation  •  Slide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